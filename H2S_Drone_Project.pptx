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57200"/>
            <a:ext cx="2926080" cy="2926080"/>
          </a:xfrm>
          <a:prstGeom prst="ellipse">
            <a:avLst/>
          </a:prstGeom>
          <a:solidFill>
            <a:srgbClr val="1B3A5C">
              <a:alpha val="70000"/>
            </a:srgbClr>
          </a:solidFill>
          <a:ln w="25400">
            <a:solidFill>
              <a:srgbClr val="F4A1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005840"/>
            <a:ext cx="1828800" cy="1828800"/>
          </a:xfrm>
          <a:prstGeom prst="ellipse">
            <a:avLst/>
          </a:prstGeom>
          <a:solidFill>
            <a:srgbClr val="F4A11D">
              <a:alpha val="40000"/>
            </a:srgbClr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1645920"/>
            <a:ext cx="1097280" cy="548640"/>
          </a:xfrm>
          <a:prstGeom prst="roundRect">
            <a:avLst>
              <a:gd name="adj" fmla="val 16667"/>
            </a:avLst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0" y="1783080"/>
            <a:ext cx="146304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60920" y="1508760"/>
            <a:ext cx="731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00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Gas Monitoring System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1600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4A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Drone for H₂S Gas Detection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H₂S Monitoring in Petroleum Environments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3657600" cy="36576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017520"/>
            <a:ext cx="1828800" cy="347472"/>
          </a:xfrm>
          <a:prstGeom prst="roundRect">
            <a:avLst>
              <a:gd name="adj" fmla="val 31579"/>
            </a:avLst>
          </a:prstGeom>
          <a:solidFill>
            <a:srgbClr val="1B3A5C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0175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A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PX4 • MAVSDK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31720" y="3017520"/>
            <a:ext cx="1828800" cy="347472"/>
          </a:xfrm>
          <a:prstGeom prst="roundRect">
            <a:avLst>
              <a:gd name="adj" fmla="val 31579"/>
            </a:avLst>
          </a:prstGeom>
          <a:solidFill>
            <a:srgbClr val="1B3A5C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30175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A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Harmonic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3017520"/>
            <a:ext cx="1828800" cy="347472"/>
          </a:xfrm>
          <a:prstGeom prst="roundRect">
            <a:avLst>
              <a:gd name="adj" fmla="val 31579"/>
            </a:avLst>
          </a:prstGeom>
          <a:solidFill>
            <a:srgbClr val="1B3A5C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30175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A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asyncio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— Petroleum Industrial Environments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06040" cy="3291840"/>
          </a:xfrm>
          <a:prstGeom prst="roundRect">
            <a:avLst>
              <a:gd name="adj" fmla="val 5263"/>
            </a:avLst>
          </a:prstGeom>
          <a:solidFill>
            <a:srgbClr val="132337"/>
          </a:solidFill>
          <a:ln w="12700">
            <a:solidFill>
              <a:srgbClr val="F4A11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20140" y="1143000"/>
            <a:ext cx="1097280" cy="109728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0140" y="1143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☠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H₂S is Extremely Toxic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A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Lethal at low concentrations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606040" cy="3291840"/>
          </a:xfrm>
          <a:prstGeom prst="roundRect">
            <a:avLst>
              <a:gd name="adj" fmla="val 5263"/>
            </a:avLst>
          </a:prstGeom>
          <a:solidFill>
            <a:srgbClr val="132337"/>
          </a:solidFill>
          <a:ln w="12700">
            <a:solidFill>
              <a:srgbClr val="F4A11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91940" y="1143000"/>
            <a:ext cx="1097280" cy="109728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91940" y="1143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⚠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429000" y="2377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Detection is Risky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926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A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Endangers human workers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960120"/>
            <a:ext cx="2606040" cy="3291840"/>
          </a:xfrm>
          <a:prstGeom prst="roundRect">
            <a:avLst>
              <a:gd name="adj" fmla="val 5263"/>
            </a:avLst>
          </a:prstGeom>
          <a:solidFill>
            <a:srgbClr val="132337"/>
          </a:solidFill>
          <a:ln w="12700">
            <a:solidFill>
              <a:srgbClr val="F4A11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63740" y="1143000"/>
            <a:ext cx="1097280" cy="109728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63740" y="11430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🏭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400800" y="23774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Petroleum Sites are Complex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2926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4A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hard-to-reach areas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443484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44348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Lethal Concentration: 100 PPM  —  Immediately Dangerous to Life: 50 PPM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4023360"/>
          </a:xfrm>
          <a:prstGeom prst="roundRect">
            <a:avLst>
              <a:gd name="adj" fmla="val 3409"/>
            </a:avLst>
          </a:prstGeom>
          <a:solidFill>
            <a:srgbClr val="132337"/>
          </a:solidFill>
          <a:ln w="12700">
            <a:solidFill>
              <a:srgbClr val="F4A11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A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Drone 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UAV for H₂S Detection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20040" cy="320040"/>
          </a:xfrm>
          <a:prstGeom prst="ellipse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waypoint missions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624328"/>
            <a:ext cx="320040" cy="320040"/>
          </a:xfrm>
          <a:prstGeom prst="ellipse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243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6243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H₂S monitoring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82696"/>
            <a:ext cx="320040" cy="320040"/>
          </a:xfrm>
          <a:prstGeom prst="ellipse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826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2826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alert system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41064"/>
            <a:ext cx="320040" cy="320040"/>
          </a:xfrm>
          <a:prstGeom prst="ellipse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9410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94106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Return-to-Launch on danger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914400"/>
            <a:ext cx="4023360" cy="4023360"/>
          </a:xfrm>
          <a:prstGeom prst="roundRect">
            <a:avLst>
              <a:gd name="adj" fmla="val 3409"/>
            </a:avLst>
          </a:prstGeom>
          <a:solidFill>
            <a:srgbClr val="132337"/>
          </a:solidFill>
          <a:ln w="12700">
            <a:solidFill>
              <a:srgbClr val="F4A11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1051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A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937760" y="1828800"/>
            <a:ext cx="3657600" cy="475488"/>
          </a:xfrm>
          <a:prstGeom prst="roundRect">
            <a:avLst>
              <a:gd name="adj" fmla="val 15385"/>
            </a:avLst>
          </a:prstGeom>
          <a:solidFill>
            <a:srgbClr val="1B3A5C"/>
          </a:solidFill>
          <a:ln w="6350">
            <a:solidFill>
              <a:srgbClr val="F4A1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84708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PX4 Autopilot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20848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controller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2359152"/>
            <a:ext cx="3657600" cy="475488"/>
          </a:xfrm>
          <a:prstGeom prst="roundRect">
            <a:avLst>
              <a:gd name="adj" fmla="val 15385"/>
            </a:avLst>
          </a:prstGeom>
          <a:solidFill>
            <a:srgbClr val="1B3A5C"/>
          </a:solidFill>
          <a:ln w="6350">
            <a:solidFill>
              <a:srgbClr val="F4A1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3774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MAVSDK + Python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2615184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control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2889504"/>
            <a:ext cx="3657600" cy="475488"/>
          </a:xfrm>
          <a:prstGeom prst="roundRect">
            <a:avLst>
              <a:gd name="adj" fmla="val 15385"/>
            </a:avLst>
          </a:prstGeom>
          <a:solidFill>
            <a:srgbClr val="1B3A5C"/>
          </a:solidFill>
          <a:ln w="6350">
            <a:solidFill>
              <a:srgbClr val="F4A1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9077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Harmonic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0" y="31455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simulation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3419856"/>
            <a:ext cx="3657600" cy="475488"/>
          </a:xfrm>
          <a:prstGeom prst="roundRect">
            <a:avLst>
              <a:gd name="adj" fmla="val 15385"/>
            </a:avLst>
          </a:prstGeom>
          <a:solidFill>
            <a:srgbClr val="1B3A5C"/>
          </a:solidFill>
          <a:ln w="6350">
            <a:solidFill>
              <a:srgbClr val="F4A11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4381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asyncio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0" y="3675888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programming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37760" y="3950208"/>
            <a:ext cx="3657600" cy="475488"/>
          </a:xfrm>
          <a:prstGeom prst="roundRect">
            <a:avLst>
              <a:gd name="adj" fmla="val 15385"/>
            </a:avLst>
          </a:prstGeom>
          <a:solidFill>
            <a:srgbClr val="1B3A5C"/>
          </a:solidFill>
          <a:ln w="6350">
            <a:solidFill>
              <a:srgbClr val="F4A11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39684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air_pressure Sensor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0" y="4206240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A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Built-in gas sensor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06040" cy="3749040"/>
          </a:xfrm>
          <a:prstGeom prst="roundRect">
            <a:avLst>
              <a:gd name="adj" fmla="val 5263"/>
            </a:avLst>
          </a:prstGeom>
          <a:solidFill>
            <a:srgbClr val="132337"/>
          </a:solidFill>
          <a:ln w="254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06040" cy="640080"/>
          </a:xfrm>
          <a:prstGeom prst="roundRect">
            <a:avLst>
              <a:gd name="adj" fmla="val 21429"/>
            </a:avLst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SAFE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1874520" cy="548640"/>
          </a:xfrm>
          <a:prstGeom prst="roundRect">
            <a:avLst>
              <a:gd name="adj" fmla="val 16667"/>
            </a:avLst>
          </a:prstGeom>
          <a:solidFill>
            <a:srgbClr val="22C55E">
              <a:alpha val="3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202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PPM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continues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606040" cy="3749040"/>
          </a:xfrm>
          <a:prstGeom prst="roundRect">
            <a:avLst>
              <a:gd name="adj" fmla="val 5263"/>
            </a:avLst>
          </a:prstGeom>
          <a:solidFill>
            <a:srgbClr val="132337"/>
          </a:solidFill>
          <a:ln w="25400">
            <a:solidFill>
              <a:srgbClr val="EAB30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2606040" cy="640080"/>
          </a:xfrm>
          <a:prstGeom prst="roundRect">
            <a:avLst>
              <a:gd name="adj" fmla="val 21429"/>
            </a:avLst>
          </a:prstGeom>
          <a:solidFill>
            <a:srgbClr val="EAB308">
              <a:alpha val="8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0058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WARNING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566160" y="1920240"/>
            <a:ext cx="1874520" cy="548640"/>
          </a:xfrm>
          <a:prstGeom prst="roundRect">
            <a:avLst>
              <a:gd name="adj" fmla="val 16667"/>
            </a:avLst>
          </a:prstGeom>
          <a:solidFill>
            <a:srgbClr val="EAB308">
              <a:alpha val="30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19202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10–50 PPM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91840" y="27432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 Alert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960120"/>
            <a:ext cx="2606040" cy="3749040"/>
          </a:xfrm>
          <a:prstGeom prst="roundRect">
            <a:avLst>
              <a:gd name="adj" fmla="val 5263"/>
            </a:avLst>
          </a:prstGeom>
          <a:solidFill>
            <a:srgbClr val="132337"/>
          </a:solidFill>
          <a:ln w="254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960120"/>
            <a:ext cx="2606040" cy="640080"/>
          </a:xfrm>
          <a:prstGeom prst="roundRect">
            <a:avLst>
              <a:gd name="adj" fmla="val 21429"/>
            </a:avLst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00584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DANGER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0" y="1920240"/>
            <a:ext cx="1874520" cy="548640"/>
          </a:xfrm>
          <a:prstGeom prst="roundRect">
            <a:avLst>
              <a:gd name="adj" fmla="val 16667"/>
            </a:avLst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192024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 PPM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26480" y="27432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to Launch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Projects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132337"/>
          </a:solidFill>
          <a:ln w="12700">
            <a:solidFill>
              <a:srgbClr val="F4A11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98755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🇸🇦  Saudi Aramco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100584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F4A11D">
              <a:alpha val="80000"/>
            </a:srgbClr>
          </a:solidFill>
          <a:ln w="6350">
            <a:solidFill>
              <a:srgbClr val="F4A1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005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38988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UAVs for gas leak detection using laser &amp; infrared thermography in oil facilities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50592"/>
            <a:ext cx="3931920" cy="27432"/>
          </a:xfrm>
          <a:prstGeom prst="rect">
            <a:avLst/>
          </a:prstGeom>
          <a:solidFill>
            <a:srgbClr val="F4A11D">
              <a:alpha val="50000"/>
            </a:srgbClr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48716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4A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Aramco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800600" y="91440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132337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98755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🇮🇶  Iraq Oil Refinery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01000" y="100584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22C55E">
              <a:alpha val="80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1005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37760" y="138988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Quadcopter with MQ H₂S sensor for refinery gas monitoring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937760" y="2450592"/>
            <a:ext cx="3931920" cy="27432"/>
          </a:xfrm>
          <a:prstGeom prst="rect">
            <a:avLst/>
          </a:prstGeom>
          <a:solidFill>
            <a:srgbClr val="22C55E">
              <a:alpha val="5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48716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Iraq Oil Refinery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132337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95351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🇦🇪  Shah Gas Plant, UAE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520440" y="297180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0EA5E9">
              <a:alpha val="80000"/>
            </a:srgbClr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971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335584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OGI cameras to detect H₂S in high-risk red zones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16552"/>
            <a:ext cx="3931920" cy="27432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5312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 Gas Plant, UAE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00600" y="288036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132337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295351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Percepto Air Max OGI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001000" y="2971800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94A3B8">
              <a:alpha val="80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29718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937760" y="3355848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fully-automated drone-in-a-box with OGI payload for H₂S detection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937760" y="4416552"/>
            <a:ext cx="3931920" cy="27432"/>
          </a:xfrm>
          <a:prstGeom prst="rect">
            <a:avLst/>
          </a:prstGeom>
          <a:solidFill>
            <a:srgbClr val="94A3B8">
              <a:alpha val="50000"/>
            </a:srgbClr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445312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Percepto — Global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371600" y="4645152"/>
            <a:ext cx="6400800" cy="365760"/>
          </a:xfrm>
          <a:prstGeom prst="roundRect">
            <a:avLst>
              <a:gd name="adj" fmla="val 25000"/>
            </a:avLst>
          </a:prstGeom>
          <a:solidFill>
            <a:srgbClr val="1B3A5C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0" y="464515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A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Our project offers an open-source, low-cost, H₂S-specialized solution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200400"/>
            <a:ext cx="2743200" cy="2743200"/>
          </a:xfrm>
          <a:prstGeom prst="ellipse">
            <a:avLst/>
          </a:prstGeom>
          <a:solidFill>
            <a:srgbClr val="1B3A5C">
              <a:alpha val="40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182880"/>
            <a:ext cx="2286000" cy="2286000"/>
          </a:xfrm>
          <a:prstGeom prst="ellipse">
            <a:avLst/>
          </a:prstGeom>
          <a:solidFill>
            <a:srgbClr val="1B3A5C">
              <a:alpha val="40000"/>
            </a:srgbClr>
          </a:solidFill>
          <a:ln w="12700">
            <a:solidFill>
              <a:srgbClr val="1B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3474720"/>
            <a:ext cx="1097280" cy="1097280"/>
          </a:xfrm>
          <a:prstGeom prst="ellipse">
            <a:avLst/>
          </a:prstGeom>
          <a:solidFill>
            <a:srgbClr val="F4A11D">
              <a:alpha val="25000"/>
            </a:srgbClr>
          </a:solidFill>
          <a:ln w="12700">
            <a:solidFill>
              <a:srgbClr val="F4A1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Challenges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4A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During Simulation Development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 Guardian — H2S Drone Detection</dc:title>
  <dc:subject>PptxGenJS Presentation</dc:subject>
  <dc:creator>PptxGenJS</dc:creator>
  <cp:lastModifiedBy>PptxGenJS</cp:lastModifiedBy>
  <cp:revision>1</cp:revision>
  <dcterms:created xsi:type="dcterms:W3CDTF">2026-06-18T11:24:15Z</dcterms:created>
  <dcterms:modified xsi:type="dcterms:W3CDTF">2026-06-18T11:24:15Z</dcterms:modified>
</cp:coreProperties>
</file>